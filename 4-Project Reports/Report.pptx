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Bold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3.png"/><Relationship Id="rId6" Type="http://schemas.openxmlformats.org/officeDocument/2006/relationships/image" Target="../media/image-9-4.svg"/><Relationship Id="rId7" Type="http://schemas.openxmlformats.org/officeDocument/2006/relationships/image" Target="../media/image-9-3.png"/><Relationship Id="rId8" Type="http://schemas.openxmlformats.org/officeDocument/2006/relationships/image" Target="../media/image-9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" y="794048"/>
            <a:ext cx="3513050" cy="52698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03794" y="2410718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Digital Marketing Campaign Performance Report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5203794" y="3869333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of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8,000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cleaned, queried in SQL, and visualized in Power BI.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7787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Campaign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823045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8K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31908" y="2644378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Customers Analyzed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208656" y="1823045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7,012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6208656" y="2644378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Successful Conversions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1908" y="3392488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87.65%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631908" y="4213820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Overall Conversion Rate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08656" y="3392488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$5,001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6208656" y="4213820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Avg Ad Spend / Customer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1908" y="4961930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15.48%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631908" y="5783263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Avg Click-Through Rate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208656" y="4961930"/>
            <a:ext cx="5351130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7.73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6208656" y="5783263"/>
            <a:ext cx="535113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Avg Minutes on Site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00677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4-Step Project Workflow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6812" y="1961753"/>
            <a:ext cx="8498072" cy="388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3818" y="4757628"/>
            <a:ext cx="1595446" cy="6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 Dashboard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3120" y="4757628"/>
            <a:ext cx="1595445" cy="6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&amp; SQL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349" y="4757628"/>
            <a:ext cx="1595445" cy="6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Cleaning &amp; Formatting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99868" y="4757628"/>
            <a:ext cx="1595445" cy="6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Collection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359" y="794048"/>
            <a:ext cx="3513050" cy="52698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908" y="1656159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Audience &amp; Demographics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631908" y="2520851"/>
            <a:ext cx="3087709" cy="1394718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25399">
            <a:solidFill>
              <a:srgbClr val="BACFD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37782" y="2726730"/>
            <a:ext cx="26759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Gender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37782" y="3131840"/>
            <a:ext cx="267596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87.62%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Male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87.69%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nearly identical rates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900092" y="2520851"/>
            <a:ext cx="3087809" cy="1394718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25399">
            <a:solidFill>
              <a:srgbClr val="BACFD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05966" y="2726730"/>
            <a:ext cx="2676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105966" y="3131840"/>
            <a:ext cx="267606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32–43 leads at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87.93%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; all groups range 87.35%–87.93%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31908" y="4096048"/>
            <a:ext cx="6355993" cy="1105793"/>
          </a:xfrm>
          <a:prstGeom prst="roundRect">
            <a:avLst>
              <a:gd name="adj" fmla="val 24491"/>
            </a:avLst>
          </a:prstGeom>
          <a:solidFill>
            <a:srgbClr val="FFFFFF"/>
          </a:solidFill>
          <a:ln w="25399">
            <a:solidFill>
              <a:srgbClr val="BACF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7782" y="4301927"/>
            <a:ext cx="5944245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Income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37782" y="4707037"/>
            <a:ext cx="5944245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88.15%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Medium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87.51%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Low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87.29%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0395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Channel Performance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771749"/>
            <a:ext cx="5243679" cy="3727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749127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Channels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226469"/>
            <a:ext cx="585326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Referral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(88.31%) and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PPC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(88.28%) lead conversion rates.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2457" y="2695873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Budget Efficiency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2457" y="3173214"/>
            <a:ext cx="524367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Social Media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operate on lower ad spend while outperforming baseline expectations — prime scaling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359" y="794048"/>
            <a:ext cx="3513050" cy="52698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908" y="1638300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Campaign Type: Conversion Wins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631908" y="3096915"/>
            <a:ext cx="6355993" cy="2122686"/>
          </a:xfrm>
          <a:prstGeom prst="roundRect">
            <a:avLst>
              <a:gd name="adj" fmla="val 12758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38258" y="3103265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225684" y="0"/>
                </a:moveTo>
                <a:lnTo>
                  <a:pt x="6117609" y="0"/>
                </a:lnTo>
                <a:arcTo hR="225690" wR="225684" stAng="16200000" swAng="5400000"/>
                <a:lnTo>
                  <a:pt x="6343293" y="1054993"/>
                </a:lnTo>
                <a:lnTo>
                  <a:pt x="0" y="1054993"/>
                </a:lnTo>
                <a:lnTo>
                  <a:pt x="0" y="225690"/>
                </a:lnTo>
                <a:arcTo hR="225690" wR="225684" stAng="10800000" swAng="5400000"/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7" name="Text 3"/>
          <p:cNvSpPr/>
          <p:nvPr/>
        </p:nvSpPr>
        <p:spPr>
          <a:xfrm>
            <a:off x="818733" y="3283744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Conversion Campaigns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18733" y="3688854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93.36%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rate · $5,312 cost/conversion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38258" y="4158258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829303"/>
                </a:lnTo>
                <a:arcTo hR="225690" wR="225684" stAng="0" swAng="5400000"/>
                <a:lnTo>
                  <a:pt x="225684" y="1054993"/>
                </a:lnTo>
                <a:arcTo hR="225690" wR="225684" stAng="5400000" swAng="5400000"/>
                <a:lnTo>
                  <a:pt x="0" y="0"/>
                </a:lnTo>
                <a:close/>
              </a:path>
            </a:pathLst>
          </a:custGeom>
          <a:solidFill>
            <a:srgbClr val="D4E9F7"/>
          </a:solidFill>
          <a:ln/>
        </p:spPr>
      </p:sp>
      <p:sp>
        <p:nvSpPr>
          <p:cNvPr id="10" name="Shape 6"/>
          <p:cNvSpPr/>
          <p:nvPr/>
        </p:nvSpPr>
        <p:spPr>
          <a:xfrm>
            <a:off x="638258" y="4158258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BACFDD"/>
          </a:solidFill>
          <a:ln/>
        </p:spPr>
      </p:sp>
      <p:sp>
        <p:nvSpPr>
          <p:cNvPr id="11" name="Text 7"/>
          <p:cNvSpPr/>
          <p:nvPr/>
        </p:nvSpPr>
        <p:spPr>
          <a:xfrm>
            <a:off x="818733" y="4338737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Awareness / Consideration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818733" y="4743847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85.56%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rate — significantly lower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121495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Behavior Signals That Predict Conversion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3076476"/>
            <a:ext cx="451335" cy="45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375344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Site Time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4158555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Converters spent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+26.5%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more time — 7.93 vs. 6.27 min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3076476"/>
            <a:ext cx="451335" cy="451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740" y="375344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Email Clicks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49740" y="4158555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Converters averaged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+32.5%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more — 4.61 vs. 3.48 clicks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7572" y="3076476"/>
            <a:ext cx="451335" cy="451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7572" y="375344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Purchase History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7572" y="4158555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Converters had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+27.0%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more prior purchases — 4.61 avg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49026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Power BI Dashboard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603" y="2864842"/>
            <a:ext cx="3536961" cy="19929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128" y="2535436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Interactive Filters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17128" y="3012777"/>
            <a:ext cx="6948909" cy="640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 Group, Gender, Income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Status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17128" y="3834209"/>
            <a:ext cx="694890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Visualizations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17128" y="4311551"/>
            <a:ext cx="6948909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by channel &amp; campaign type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spend vs. conversion rate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engagement trends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87" y="794048"/>
            <a:ext cx="3513050" cy="526980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03794" y="1594545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Recommendations</a:t>
            </a:r>
            <a:endParaRPr lang="en-US" sz="3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1460" y="2464792"/>
            <a:ext cx="270761" cy="27076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90460" y="2459236"/>
            <a:ext cx="57693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Double Down on Conversion Campaigns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5790460" y="2864346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ROI, lowest cost per conversion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1460" y="3519884"/>
            <a:ext cx="270761" cy="2707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90460" y="3514328"/>
            <a:ext cx="57693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 Email &amp; Social Media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5790460" y="3919438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Cost-efficient, outperform baseline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71460" y="4574977"/>
            <a:ext cx="270761" cy="2707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90460" y="4569420"/>
            <a:ext cx="576932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Retarget Engaged Users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5790460" y="4974530"/>
            <a:ext cx="576932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Past buyers + high site time = high intent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331020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Summary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286000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8733" y="2472829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8K Customers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18733" y="2877939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87.65% conversion rate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6035" y="2286000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2859" y="2472829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Channels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2859" y="2877939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Referral &amp; PPC lead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1908" y="3534172"/>
            <a:ext cx="53736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733" y="3721001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Best Campaign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18733" y="4126111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type: 93.36%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86035" y="3534172"/>
            <a:ext cx="5373752" cy="1067693"/>
          </a:xfrm>
          <a:prstGeom prst="roundRect">
            <a:avLst>
              <a:gd name="adj" fmla="val 25365"/>
            </a:avLst>
          </a:prstGeom>
          <a:solidFill>
            <a:srgbClr val="D4E9F7"/>
          </a:solidFill>
          <a:ln w="6350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2859" y="3721001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2859" y="4126111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Email &amp; Social, retarget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1908" y="4804966"/>
            <a:ext cx="10927878" cy="721916"/>
          </a:xfrm>
          <a:prstGeom prst="roundRect">
            <a:avLst>
              <a:gd name="adj" fmla="val 37514"/>
            </a:avLst>
          </a:prstGeom>
          <a:solidFill>
            <a:srgbClr val="D4E9F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83" y="5063034"/>
            <a:ext cx="225618" cy="18047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18475" y="5030490"/>
            <a:ext cx="1077042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cleaned, queried in SQL, and visualized in Power BI.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2026-09-13T05:20:27Z</dcterms:created>
  <dcterms:modified xsi:type="dcterms:W3CDTF">2026-09-13T05:20:27Z</dcterms:modified>
</cp:coreProperties>
</file>